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55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18120" y="502920"/>
            <a:ext cx="3657600" cy="5623560"/>
          </a:xfrm>
          <a:prstGeom prst="roundRect">
            <a:avLst/>
          </a:prstGeom>
          <a:solidFill>
            <a:srgbClr val="E6EBF0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092440" y="960120"/>
            <a:ext cx="2926080" cy="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092440" y="1527048"/>
            <a:ext cx="2926080" cy="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092440" y="2093976"/>
            <a:ext cx="2926080" cy="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092440" y="2660904"/>
            <a:ext cx="2926080" cy="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092440" y="3227832"/>
            <a:ext cx="2926080" cy="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092440" y="3794760"/>
            <a:ext cx="2926080" cy="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92440" y="4361688"/>
            <a:ext cx="2926080" cy="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92440" y="4928616"/>
            <a:ext cx="2926080" cy="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777240"/>
            <a:ext cx="0" cy="493776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32520" y="777240"/>
            <a:ext cx="0" cy="493776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35440" y="777240"/>
            <a:ext cx="0" cy="493776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738360" y="777240"/>
            <a:ext cx="0" cy="493776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241280" y="777240"/>
            <a:ext cx="0" cy="493776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744200" y="777240"/>
            <a:ext cx="0" cy="4937760"/>
          </a:xfrm>
          <a:prstGeom prst="line">
            <a:avLst/>
          </a:prstGeom>
          <a:ln w="6350">
            <a:solidFill>
              <a:srgbClr val="B0BA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29600" y="960120"/>
            <a:ext cx="2606040" cy="4389120"/>
          </a:xfrm>
          <a:prstGeom prst="line">
            <a:avLst/>
          </a:prstGeom>
          <a:ln w="38100">
            <a:solidFill>
              <a:srgbClr val="355D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229600" y="2057400"/>
            <a:ext cx="2377440" cy="3291840"/>
          </a:xfrm>
          <a:prstGeom prst="line">
            <a:avLst/>
          </a:prstGeom>
          <a:ln w="27940">
            <a:solidFill>
              <a:srgbClr val="B98A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66928" y="438912"/>
            <a:ext cx="685800" cy="50292"/>
          </a:xfrm>
          <a:prstGeom prst="rect">
            <a:avLst/>
          </a:prstGeom>
          <a:solidFill>
            <a:srgbClr val="B9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486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B98A4D"/>
                </a:solidFill>
                <a:latin typeface="Lato"/>
              </a:rPr>
              <a:t>DATA 201 CAPSTONE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85039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0"/>
                </a:solidFill>
                <a:latin typeface="EB Garamond"/>
              </a:rPr>
              <a:t>NYC Motor Vehicle Collisions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1828800"/>
            <a:ext cx="6126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F2730"/>
                </a:solidFill>
                <a:latin typeface="EB Garamond"/>
              </a:rPr>
              <a:t>Where crashes concentrate,
when they peak, and what defines severe collisions.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880360"/>
            <a:ext cx="5760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47484"/>
                </a:solidFill>
                <a:latin typeface="Lato"/>
              </a:rPr>
              <a:t>Executive analysis of 2.27 million police-reported collisions in New York City.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709160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55D55"/>
                </a:solidFill>
                <a:latin typeface="EB Garamond"/>
              </a:rPr>
              <a:t>2.27M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7492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Collision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709160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B98A4D"/>
                </a:solidFill>
                <a:latin typeface="EB Garamond"/>
              </a:rPr>
              <a:t>2012–2026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507492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709160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8E4B55"/>
                </a:solidFill>
                <a:latin typeface="EB Garamond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07492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Research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8932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47484"/>
                </a:solidFill>
                <a:latin typeface="Lato"/>
              </a:rPr>
              <a:t>Jimmy Salto • DATA 201.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685800" cy="50292"/>
          </a:xfrm>
          <a:prstGeom prst="rect">
            <a:avLst/>
          </a:prstGeom>
          <a:solidFill>
            <a:srgbClr val="8E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8E4B55"/>
                </a:solidFill>
                <a:latin typeface="Lato"/>
              </a:rPr>
              <a:t>EXECUTIVE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0"/>
                </a:solidFill>
                <a:latin typeface="EB Garamond"/>
              </a:rPr>
              <a:t>Three signals define the collision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4416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47484"/>
                </a:solidFill>
                <a:latin typeface="Lato"/>
              </a:rPr>
              <a:t>A concise view of the findings before we examine the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47088"/>
            <a:ext cx="3657600" cy="4160520"/>
          </a:xfrm>
          <a:prstGeom prst="roundRect">
            <a:avLst/>
          </a:prstGeom>
          <a:solidFill>
            <a:srgbClr val="E6EBF0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B98A4D"/>
                </a:solidFill>
                <a:latin typeface="Lato"/>
              </a:rPr>
              <a:t>THE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0604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0"/>
                </a:solidFill>
                <a:latin typeface="EB Garamond"/>
              </a:rPr>
              <a:t>Crashes cluster
in place, time,
and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892040"/>
            <a:ext cx="2834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47484"/>
                </a:solidFill>
                <a:latin typeface="Lato"/>
              </a:rPr>
              <a:t>That pattern suggests where traffic-safety attention and better reporting could matter most.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847088"/>
            <a:ext cx="6903720" cy="114300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8032" y="2029968"/>
            <a:ext cx="457200" cy="320040"/>
          </a:xfrm>
          <a:prstGeom prst="roundRect">
            <a:avLst/>
          </a:prstGeom>
          <a:solidFill>
            <a:srgbClr val="355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Lat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956816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730"/>
                </a:solidFill>
                <a:latin typeface="EB Garamond"/>
              </a:rPr>
              <a:t>Brooklyn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286000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Highest reported borough count.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093976"/>
            <a:ext cx="2651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355D55"/>
                </a:solidFill>
                <a:latin typeface="EB Garamond"/>
              </a:rPr>
              <a:t>506,806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246120"/>
            <a:ext cx="6903720" cy="114300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28032" y="3429000"/>
            <a:ext cx="457200" cy="320040"/>
          </a:xfrm>
          <a:prstGeom prst="roundRect">
            <a:avLst/>
          </a:prstGeom>
          <a:solidFill>
            <a:srgbClr val="B9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Lat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35584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730"/>
                </a:solidFill>
                <a:latin typeface="EB Garamond"/>
              </a:rPr>
              <a:t>4 PM + Friday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685031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Peak time pattern.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493008"/>
            <a:ext cx="2651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B98A4D"/>
                </a:solidFill>
                <a:latin typeface="EB Garamond"/>
              </a:rPr>
              <a:t>161,385 / 360,747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4645152"/>
            <a:ext cx="6903720" cy="114300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28032" y="4828032"/>
            <a:ext cx="457200" cy="320040"/>
          </a:xfrm>
          <a:prstGeom prst="roundRect">
            <a:avLst/>
          </a:prstGeom>
          <a:solidFill>
            <a:srgbClr val="8E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Lat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475488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730"/>
                </a:solidFill>
                <a:latin typeface="EB Garamond"/>
              </a:rPr>
              <a:t>Distraction + Sedan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5084064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Most common in severe crashes.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892040"/>
            <a:ext cx="2651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 i="0">
                <a:solidFill>
                  <a:srgbClr val="8E4B55"/>
                </a:solidFill>
                <a:latin typeface="EB Garamond"/>
              </a:rPr>
              <a:t>125,055 / 176,908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83096"/>
            <a:ext cx="6766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4"/>
                </a:solidFill>
                <a:latin typeface="Lato"/>
              </a:rPr>
              <a:t>NYC Open Data • Motor Vehicle Collisions – Crashes • NYPD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55664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4"/>
                </a:solidFill>
                <a:latin typeface="La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685800" cy="50292"/>
          </a:xfrm>
          <a:prstGeom prst="rect">
            <a:avLst/>
          </a:prstGeom>
          <a:solidFill>
            <a:srgbClr val="355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355D55"/>
                </a:solidFill>
                <a:latin typeface="Lato"/>
              </a:rP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0"/>
                </a:solidFill>
                <a:latin typeface="EB Garamond"/>
              </a:rPr>
              <a:t>2.27 million collision records spanning nearly 14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4416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47484"/>
                </a:solidFill>
                <a:latin typeface="Lato"/>
              </a:rPr>
              <a:t>Official NYC Open Data provides a large, longitudinal view of reported motor vehicle collisions.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7406640" cy="960120"/>
          </a:xfrm>
          <a:prstGeom prst="roundRect">
            <a:avLst/>
          </a:prstGeom>
          <a:solidFill>
            <a:srgbClr val="E6EBF0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98A4D"/>
                </a:solidFill>
                <a:latin typeface="Lato"/>
              </a:rPr>
              <a:t>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2730"/>
                </a:solidFill>
                <a:latin typeface="EB Garamond"/>
              </a:rPr>
              <a:t>July 2012  →  June 15,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2752" y="1874519"/>
            <a:ext cx="3246120" cy="960120"/>
          </a:xfrm>
          <a:prstGeom prst="roundRect">
            <a:avLst/>
          </a:prstGeom>
          <a:solidFill>
            <a:srgbClr val="E5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201168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355D55"/>
                </a:solidFill>
                <a:latin typeface="Lato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24028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2730"/>
                </a:solidFill>
                <a:latin typeface="EB Garamond"/>
              </a:rPr>
              <a:t>NYC Open Data  •  NYPD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246120"/>
            <a:ext cx="2423160" cy="109728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45643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8E4B55"/>
                </a:solidFill>
                <a:latin typeface="EB Garamond"/>
              </a:rPr>
              <a:t>1 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785615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One reported collision.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3246120"/>
            <a:ext cx="2423160" cy="109728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45643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55D55"/>
                </a:solidFill>
                <a:latin typeface="EB Garamond"/>
              </a:rPr>
              <a:t>29 + 4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785615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Domain fields + API metadata.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3246120"/>
            <a:ext cx="2423160" cy="109728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34564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B98A4D"/>
                </a:solidFill>
                <a:latin typeface="EB Garamond"/>
              </a:rPr>
              <a:t>COLLISION_ID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803904"/>
            <a:ext cx="1920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4"/>
                </a:solidFill>
                <a:latin typeface="Lato"/>
              </a:rPr>
              <a:t>Unique crash identifier.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3246120"/>
            <a:ext cx="2423160" cy="109728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45643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8E4B55"/>
                </a:solidFill>
                <a:latin typeface="EB Garamond"/>
              </a:rPr>
              <a:t>Daily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785615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Intended refresh cadence.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709160"/>
            <a:ext cx="10881360" cy="1188720"/>
          </a:xfrm>
          <a:prstGeom prst="roundRect">
            <a:avLst/>
          </a:prstGeom>
          <a:solidFill>
            <a:srgbClr val="F4E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901184"/>
            <a:ext cx="2286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B98A4D"/>
                </a:solidFill>
                <a:latin typeface="Lato"/>
              </a:rPr>
              <a:t>Academic note on provenance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2578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F2730"/>
                </a:solidFill>
                <a:latin typeface="Lato"/>
              </a:rPr>
              <a:t>The file is based on NYPD crash reports. Records can be revised as additional information becomes available, so cleaning decisions and limitations are documented explicitly.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83096"/>
            <a:ext cx="6766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4"/>
                </a:solidFill>
                <a:latin typeface="Lato"/>
              </a:rPr>
              <a:t>NYC Open Data • Motor Vehicle Collisions – Crashes • NYPD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455664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4"/>
                </a:solidFill>
                <a:latin typeface="La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685800" cy="50292"/>
          </a:xfrm>
          <a:prstGeom prst="rect">
            <a:avLst/>
          </a:prstGeom>
          <a:solidFill>
            <a:srgbClr val="B9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B98A4D"/>
                </a:solidFill>
                <a:latin typeface="Lato"/>
              </a:rPr>
              <a:t>ANALYTICAL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0"/>
                </a:solidFill>
                <a:latin typeface="EB Garamond"/>
              </a:rPr>
              <a:t>From 33 loaded columns to a focused analytical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4416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47484"/>
                </a:solidFill>
                <a:latin typeface="Lato"/>
              </a:rPr>
              <a:t>Only variables needed for the research questions were retained, validated, and engineered.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965960"/>
            <a:ext cx="1975104" cy="1207008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2139696"/>
            <a:ext cx="502920" cy="41148"/>
          </a:xfrm>
          <a:prstGeom prst="rect">
            <a:avLst/>
          </a:prstGeom>
          <a:solidFill>
            <a:srgbClr val="355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27685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355D55"/>
                </a:solidFill>
                <a:latin typeface="Lato"/>
              </a:rPr>
              <a:t>SELECT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578608"/>
            <a:ext cx="1645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1F2730"/>
                </a:solidFill>
                <a:latin typeface="EB Garamond"/>
              </a:rPr>
              <a:t>16 variables.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9504" y="1965960"/>
            <a:ext cx="1975104" cy="1207008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54096" y="2139696"/>
            <a:ext cx="502920" cy="41148"/>
          </a:xfrm>
          <a:prstGeom prst="rect">
            <a:avLst/>
          </a:prstGeom>
          <a:solidFill>
            <a:srgbClr val="647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227685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647484"/>
                </a:solidFill>
                <a:latin typeface="Lato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578608"/>
            <a:ext cx="1645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1F2730"/>
                </a:solidFill>
                <a:latin typeface="EB Garamond"/>
              </a:rPr>
              <a:t>Missing values + duplicates.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7216" y="1965960"/>
            <a:ext cx="1975104" cy="1207008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21807" y="2139696"/>
            <a:ext cx="502920" cy="41148"/>
          </a:xfrm>
          <a:prstGeom prst="rect">
            <a:avLst/>
          </a:prstGeom>
          <a:solidFill>
            <a:srgbClr val="8E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7" y="227685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4B55"/>
                </a:solidFill>
                <a:latin typeface="Lato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7" y="2578608"/>
            <a:ext cx="1645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1F2730"/>
                </a:solidFill>
                <a:latin typeface="EB Garamond"/>
              </a:rPr>
              <a:t>Injury and fatality totals.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1965960"/>
            <a:ext cx="1975104" cy="1207008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19" y="2139696"/>
            <a:ext cx="502920" cy="41148"/>
          </a:xfrm>
          <a:prstGeom prst="rect">
            <a:avLst/>
          </a:prstGeom>
          <a:solidFill>
            <a:srgbClr val="B9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227685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98A4D"/>
                </a:solidFill>
                <a:latin typeface="Lato"/>
              </a:rPr>
              <a:t>STANDARDIZE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2578608"/>
            <a:ext cx="1645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F2730"/>
                </a:solidFill>
                <a:latin typeface="EB Garamond"/>
              </a:rPr>
              <a:t>Borough, factors, and vehicles.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965960"/>
            <a:ext cx="1975104" cy="1207008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57232" y="2139696"/>
            <a:ext cx="502920" cy="41148"/>
          </a:xfrm>
          <a:prstGeom prst="rect">
            <a:avLst/>
          </a:prstGeom>
          <a:solidFill>
            <a:srgbClr val="355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7232" y="2276856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355D55"/>
                </a:solidFill>
                <a:latin typeface="Lato"/>
              </a:rPr>
              <a:t>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2578608"/>
            <a:ext cx="1645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F2730"/>
                </a:solidFill>
                <a:latin typeface="EB Garamond"/>
              </a:rPr>
              <a:t>Hour, weekday, and severity.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886200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B98A4D"/>
                </a:solidFill>
                <a:latin typeface="EB Garamond"/>
              </a:rPr>
              <a:t>30.47%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51960"/>
            <a:ext cx="2057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7484"/>
                </a:solidFill>
                <a:latin typeface="Lato"/>
              </a:rPr>
              <a:t>Borough values missing—kept to preserve otherwise valid crashes.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3886200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8E4B55"/>
                </a:solidFill>
                <a:latin typeface="EB Garamond"/>
              </a:rPr>
              <a:t>8,913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251960"/>
            <a:ext cx="2057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4"/>
                </a:solidFill>
                <a:latin typeface="Lato"/>
              </a:rPr>
              <a:t>Missing fatality totals reconstructed.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1645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55D55"/>
                </a:solidFill>
                <a:latin typeface="EB Garamond"/>
              </a:rPr>
              <a:t>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51960"/>
            <a:ext cx="2057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47484"/>
                </a:solidFill>
                <a:latin typeface="Lato"/>
              </a:rPr>
              <a:t>Missing injury totals reconstructed.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257800"/>
            <a:ext cx="10881360" cy="868680"/>
          </a:xfrm>
          <a:prstGeom prst="roundRect">
            <a:avLst/>
          </a:prstGeom>
          <a:solidFill>
            <a:srgbClr val="E6EBF0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458968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98A4D"/>
                </a:solidFill>
                <a:latin typeface="Lato"/>
              </a:rPr>
              <a:t>DERIVED VARIABLES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385816"/>
            <a:ext cx="8595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2730"/>
                </a:solidFill>
                <a:latin typeface="EB Garamond"/>
              </a:rPr>
              <a:t>crash_hour    •    day_of_week    •    crash_severity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83096"/>
            <a:ext cx="6766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4"/>
                </a:solidFill>
                <a:latin typeface="Lato"/>
              </a:rPr>
              <a:t>NYC Open Data • Motor Vehicle Collisions – Crashes • NYPD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455664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4"/>
                </a:solidFill>
                <a:latin typeface="La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685800" cy="50292"/>
          </a:xfrm>
          <a:prstGeom prst="rect">
            <a:avLst/>
          </a:prstGeom>
          <a:solidFill>
            <a:srgbClr val="355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355D55"/>
                </a:solidFill>
                <a:latin typeface="Lato"/>
              </a:rPr>
              <a:t>FINDING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0"/>
                </a:solidFill>
                <a:latin typeface="EB Garamond"/>
              </a:rPr>
              <a:t>Brooklyn carries the highest reported collision burden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4416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47484"/>
                </a:solidFill>
                <a:latin typeface="Lato"/>
              </a:rPr>
              <a:t>Among crashes with a known borough, Brooklyn leads every other borough in total collision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>
                <a:solidFill>
                  <a:srgbClr val="B98A4D"/>
                </a:solidFill>
                <a:latin typeface="EB Garamond"/>
              </a:rPr>
              <a:t>506,806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87168"/>
            <a:ext cx="2011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47484"/>
                </a:solidFill>
                <a:latin typeface="Lato"/>
              </a:rPr>
              <a:t>Reported collisions
in Brooklyn.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783080"/>
            <a:ext cx="8183879" cy="4251960"/>
          </a:xfrm>
          <a:prstGeom prst="roundRect">
            <a:avLst/>
          </a:prstGeom>
          <a:solidFill>
            <a:srgbClr val="FC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orough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993392"/>
            <a:ext cx="7635240" cy="368266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3749039"/>
            <a:ext cx="1965960" cy="1143000"/>
          </a:xfrm>
          <a:prstGeom prst="roundRect">
            <a:avLst/>
          </a:prstGeom>
          <a:solidFill>
            <a:srgbClr val="F3E7E8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95020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4B55"/>
                </a:solidFill>
                <a:latin typeface="Lato"/>
              </a:rPr>
              <a:t>CAVEAT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224528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1F2730"/>
                </a:solidFill>
                <a:latin typeface="Lato"/>
              </a:rPr>
              <a:t>~30% of records have no borough reported.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166360"/>
            <a:ext cx="1965960" cy="749808"/>
          </a:xfrm>
          <a:prstGeom prst="roundRect">
            <a:avLst/>
          </a:prstGeom>
          <a:solidFill>
            <a:srgbClr val="E5E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376672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2730"/>
                </a:solidFill>
                <a:latin typeface="Lato"/>
              </a:rPr>
              <a:t>Interpret the ranking among known borough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83096"/>
            <a:ext cx="6766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4"/>
                </a:solidFill>
                <a:latin typeface="Lato"/>
              </a:rPr>
              <a:t>NYC Open Data • Motor Vehicle Collisions – Crashes • NYPD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55664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4"/>
                </a:solidFill>
                <a:latin typeface="La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685800" cy="50292"/>
          </a:xfrm>
          <a:prstGeom prst="rect">
            <a:avLst/>
          </a:prstGeom>
          <a:solidFill>
            <a:srgbClr val="B9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B98A4D"/>
                </a:solidFill>
                <a:latin typeface="Lato"/>
              </a:rPr>
              <a:t>FINDING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0"/>
                </a:solidFill>
                <a:latin typeface="EB Garamond"/>
              </a:rPr>
              <a:t>The crash curve peaks at 4 PM—and Friday is busiest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4416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47484"/>
                </a:solidFill>
                <a:latin typeface="Lato"/>
              </a:rPr>
              <a:t>Both time-of-day and day-of-week patterns point toward heavier late-week commuting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920240" cy="914400"/>
          </a:xfrm>
          <a:prstGeom prst="roundRect">
            <a:avLst/>
          </a:prstGeom>
          <a:solidFill>
            <a:srgbClr val="E6EBF0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93392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98A4D"/>
                </a:solidFill>
                <a:latin typeface="Lato"/>
              </a:rPr>
              <a:t>PEAK HOUR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24028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2730"/>
                </a:solidFill>
                <a:latin typeface="EB Garamond"/>
              </a:rPr>
              <a:t>4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13432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47484"/>
                </a:solidFill>
                <a:latin typeface="Lato"/>
              </a:rPr>
              <a:t>161,385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1920240" cy="914400"/>
          </a:xfrm>
          <a:prstGeom prst="roundRect">
            <a:avLst/>
          </a:prstGeom>
          <a:solidFill>
            <a:srgbClr val="F4E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1993392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98A4D"/>
                </a:solidFill>
                <a:latin typeface="Lato"/>
              </a:rPr>
              <a:t>TOP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24028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F2730"/>
                </a:solidFill>
                <a:latin typeface="EB Garamond"/>
              </a:rPr>
              <a:t>Friday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2313432"/>
            <a:ext cx="685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47484"/>
                </a:solidFill>
                <a:latin typeface="Lato"/>
              </a:rPr>
              <a:t>360,747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71800"/>
            <a:ext cx="6766560" cy="306324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our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54680"/>
            <a:ext cx="6355080" cy="300049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635240" y="1828800"/>
            <a:ext cx="3931920" cy="420624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ay_prem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2148840"/>
            <a:ext cx="3520440" cy="25928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6483096"/>
            <a:ext cx="6766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4"/>
                </a:solidFill>
                <a:latin typeface="Lato"/>
              </a:rPr>
              <a:t>NYC Open Data • Motor Vehicle Collisions – Crashes • NYPD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55664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4"/>
                </a:solidFill>
                <a:latin typeface="La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685800" cy="50292"/>
          </a:xfrm>
          <a:prstGeom prst="rect">
            <a:avLst/>
          </a:prstGeom>
          <a:solidFill>
            <a:srgbClr val="8E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8E4B55"/>
                </a:solidFill>
                <a:latin typeface="Lato"/>
              </a:rPr>
              <a:t>FINDING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0"/>
                </a:solidFill>
                <a:latin typeface="EB Garamond"/>
              </a:rPr>
              <a:t>Severe crashes point to distraction and sedans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4416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47484"/>
                </a:solidFill>
                <a:latin typeface="Lato"/>
              </a:rPr>
              <a:t>After excluding “Unspecified,” Driver Inattention/Distraction is the leading specific factor in injury or fatal crashes.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0972800" cy="713232"/>
          </a:xfrm>
          <a:prstGeom prst="roundRect">
            <a:avLst/>
          </a:prstGeom>
          <a:solidFill>
            <a:srgbClr val="E6EBF0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2996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8E4B55"/>
                </a:solidFill>
                <a:latin typeface="Lato"/>
              </a:rPr>
              <a:t>LEADING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56816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730"/>
                </a:solidFill>
                <a:latin typeface="EB Garamond"/>
              </a:rPr>
              <a:t>Driver Inattention/Distraction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2048256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B98A4D"/>
                </a:solidFill>
                <a:latin typeface="Lato"/>
              </a:rPr>
              <a:t>125,055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29968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355D55"/>
                </a:solidFill>
                <a:latin typeface="Lato"/>
              </a:rPr>
              <a:t>TOP VEHICLE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95681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730"/>
                </a:solidFill>
                <a:latin typeface="EB Garamond"/>
              </a:rPr>
              <a:t>Sedan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048256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B98A4D"/>
                </a:solidFill>
                <a:latin typeface="Lato"/>
              </a:rPr>
              <a:t>176,908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88920"/>
            <a:ext cx="5349240" cy="3246120"/>
          </a:xfrm>
          <a:prstGeom prst="roundRect">
            <a:avLst/>
          </a:prstGeom>
          <a:solidFill>
            <a:srgbClr val="FC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actors_prem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99232"/>
            <a:ext cx="4937760" cy="303659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36208" y="2788920"/>
            <a:ext cx="5349240" cy="3246120"/>
          </a:xfrm>
          <a:prstGeom prst="roundRect">
            <a:avLst/>
          </a:prstGeom>
          <a:solidFill>
            <a:srgbClr val="FC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ehicles_prem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999232"/>
            <a:ext cx="4937760" cy="30389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6483096"/>
            <a:ext cx="6766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4"/>
                </a:solidFill>
                <a:latin typeface="Lato"/>
              </a:rPr>
              <a:t>NYC Open Data • Motor Vehicle Collisions – Crashes • NYPD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55664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4"/>
                </a:solidFill>
                <a:latin typeface="La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685800" cy="50292"/>
          </a:xfrm>
          <a:prstGeom prst="rect">
            <a:avLst/>
          </a:prstGeom>
          <a:solidFill>
            <a:srgbClr val="355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355D55"/>
                </a:solidFill>
                <a:latin typeface="Lato"/>
              </a:rPr>
              <a:t>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0"/>
                </a:solidFill>
                <a:latin typeface="EB Garamond"/>
              </a:rPr>
              <a:t>The data suggest where to focus—and what to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344168"/>
            <a:ext cx="8595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47484"/>
                </a:solidFill>
                <a:latin typeface="Lato"/>
              </a:rPr>
              <a:t>A strong executive conclusion should connect findings to action while preserving the limitations of the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4708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355D55"/>
                </a:solidFill>
                <a:latin typeface="Lato"/>
              </a:rPr>
              <a:t>WHAT TO 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438912" cy="301752"/>
          </a:xfrm>
          <a:prstGeom prst="roundRect">
            <a:avLst/>
          </a:prstGeom>
          <a:solidFill>
            <a:srgbClr val="355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2199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730"/>
                </a:solidFill>
                <a:latin typeface="EB Garamond"/>
              </a:rPr>
              <a:t>Prioritize high-volume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532888"/>
            <a:ext cx="4389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Focus traffic-safety attention around late-afternoon and Friday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83280"/>
            <a:ext cx="438912" cy="301752"/>
          </a:xfrm>
          <a:prstGeom prst="roundRect">
            <a:avLst/>
          </a:prstGeom>
          <a:solidFill>
            <a:srgbClr val="B9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6499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730"/>
                </a:solidFill>
                <a:latin typeface="EB Garamond"/>
              </a:rPr>
              <a:t>Deepen borough-level follow-up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675888"/>
            <a:ext cx="4389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Brooklyn is the strongest candidate for a more granular location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26280"/>
            <a:ext cx="438912" cy="301752"/>
          </a:xfrm>
          <a:prstGeom prst="roundRect">
            <a:avLst/>
          </a:prstGeom>
          <a:solidFill>
            <a:srgbClr val="8E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50799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2730"/>
                </a:solidFill>
                <a:latin typeface="EB Garamond"/>
              </a:rPr>
              <a:t>Improve reporting 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818888"/>
            <a:ext cx="4389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47484"/>
                </a:solidFill>
                <a:latin typeface="Lato"/>
              </a:rPr>
              <a:t>Reduce “Unspecified” factors and normalize vehicle labels.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828800"/>
            <a:ext cx="27432" cy="4206240"/>
          </a:xfrm>
          <a:prstGeom prst="rect">
            <a:avLst/>
          </a:prstGeom>
          <a:solidFill>
            <a:srgbClr val="DCD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47088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8E4B55"/>
                </a:solidFill>
                <a:latin typeface="Lato"/>
              </a:rPr>
              <a:t>WHAT TO QUALIFY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286000"/>
            <a:ext cx="4572000" cy="7772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432304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8E4B55"/>
                </a:solidFill>
                <a:latin typeface="EB Garamond"/>
              </a:rPr>
              <a:t>30.47%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96312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47484"/>
                </a:solidFill>
                <a:latin typeface="Lato"/>
              </a:rPr>
              <a:t>Missing borough values.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401568"/>
            <a:ext cx="4572000" cy="7772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547872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8E4B55"/>
                </a:solidFill>
                <a:latin typeface="EB Garamond"/>
              </a:rPr>
              <a:t>“Unspecified”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61187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47484"/>
                </a:solidFill>
                <a:latin typeface="Lato"/>
              </a:rPr>
              <a:t>Common in contributing factors.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517136"/>
            <a:ext cx="4572000" cy="7772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466344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55D55"/>
                </a:solidFill>
                <a:latin typeface="EB Garamond"/>
              </a:rPr>
              <a:t>Vehicle labels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2744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47484"/>
                </a:solidFill>
                <a:latin typeface="Lato"/>
              </a:rPr>
              <a:t>Not fully standardized.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504688"/>
            <a:ext cx="4572000" cy="566928"/>
          </a:xfrm>
          <a:prstGeom prst="roundRect">
            <a:avLst/>
          </a:prstGeom>
          <a:solidFill>
            <a:srgbClr val="E5EDE9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5678424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F2730"/>
                </a:solidFill>
                <a:latin typeface="Lato"/>
              </a:rPr>
              <a:t>Use the findings directionally—not as causal proof.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83096"/>
            <a:ext cx="6766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4"/>
                </a:solidFill>
                <a:latin typeface="Lato"/>
              </a:rPr>
              <a:t>NYC Open Data • Motor Vehicle Collisions – Crashes • NYPD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55664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4"/>
                </a:solidFill>
                <a:latin typeface="La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38912"/>
            <a:ext cx="685800" cy="50292"/>
          </a:xfrm>
          <a:prstGeom prst="rect">
            <a:avLst/>
          </a:prstGeom>
          <a:solidFill>
            <a:srgbClr val="B9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B98A4D"/>
                </a:solidFill>
                <a:latin typeface="Lato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8046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2730"/>
                </a:solidFill>
                <a:latin typeface="EB Garamond"/>
              </a:rPr>
              <a:t>Three takeaways to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246120" cy="2331720"/>
          </a:xfrm>
          <a:prstGeom prst="roundRect">
            <a:avLst/>
          </a:prstGeom>
          <a:solidFill>
            <a:srgbClr val="E5EDE9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148840"/>
            <a:ext cx="457200" cy="310896"/>
          </a:xfrm>
          <a:prstGeom prst="roundRect">
            <a:avLst/>
          </a:prstGeom>
          <a:solidFill>
            <a:srgbClr val="355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06040"/>
            <a:ext cx="1280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355D55"/>
                </a:solidFill>
                <a:latin typeface="Lato"/>
              </a:rPr>
              <a:t>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718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2730"/>
                </a:solidFill>
                <a:latin typeface="EB Garamond"/>
              </a:rPr>
              <a:t>Brooklyn leads among known boroughs.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1920240"/>
            <a:ext cx="3246120" cy="2331720"/>
          </a:xfrm>
          <a:prstGeom prst="roundRect">
            <a:avLst/>
          </a:prstGeom>
          <a:solidFill>
            <a:srgbClr val="F4EBDA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36007" y="2148840"/>
            <a:ext cx="457200" cy="310896"/>
          </a:xfrm>
          <a:prstGeom prst="roundRect">
            <a:avLst/>
          </a:prstGeom>
          <a:solidFill>
            <a:srgbClr val="B9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606040"/>
            <a:ext cx="1280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B98A4D"/>
                </a:solidFill>
                <a:latin typeface="Lato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9718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2730"/>
                </a:solidFill>
                <a:latin typeface="EB Garamond"/>
              </a:rPr>
              <a:t>4 PM and Friday define the peak pattern.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920240"/>
            <a:ext cx="3246120" cy="2331720"/>
          </a:xfrm>
          <a:prstGeom prst="roundRect">
            <a:avLst/>
          </a:prstGeom>
          <a:solidFill>
            <a:srgbClr val="F3E7E8"/>
          </a:solidFill>
          <a:ln w="12700"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85048" y="2148840"/>
            <a:ext cx="457200" cy="310896"/>
          </a:xfrm>
          <a:prstGeom prst="roundRect">
            <a:avLst/>
          </a:prstGeom>
          <a:solidFill>
            <a:srgbClr val="8E4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Lat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606040"/>
            <a:ext cx="1280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8E4B55"/>
                </a:solidFill>
                <a:latin typeface="Lato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9718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F2730"/>
                </a:solidFill>
                <a:latin typeface="EB Garamond"/>
              </a:rPr>
              <a:t>Distraction and sedans dominate severe-crash counts.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B98A4D"/>
                </a:solidFill>
                <a:latin typeface="EB Garamond"/>
              </a:rPr>
              <a:t>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30952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47484"/>
                </a:solidFill>
                <a:latin typeface="Lato"/>
              </a:rPr>
              <a:t>Thank you. — Jimmy Salto • DATA 201 Capstone Project.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4709160"/>
            <a:ext cx="2468880" cy="731520"/>
          </a:xfrm>
          <a:prstGeom prst="round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492861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F2730"/>
                </a:solidFill>
                <a:latin typeface="EB Garamond"/>
              </a:rPr>
              <a:t>NYC collision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83096"/>
            <a:ext cx="6766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47484"/>
                </a:solidFill>
                <a:latin typeface="Lato"/>
              </a:rPr>
              <a:t>NYC Open Data • Motor Vehicle Collisions – Crashes • NYPD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55664"/>
            <a:ext cx="182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4"/>
                </a:solidFill>
                <a:latin typeface="Lato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